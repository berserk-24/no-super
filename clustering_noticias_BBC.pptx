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5226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90143-2405-5B56-6B9E-C648E8BB5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5F7EE1-78C8-1A19-E388-68671AF19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7EE9B-A9E1-CC3E-A54E-F0EC0B54B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AD301-433E-66FF-D76C-34D3FA9FE6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3337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lfathterry/bbc-full-text-document-classificati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822960"/>
            <a:ext cx="2926080" cy="2926080"/>
          </a:xfrm>
          <a:prstGeom prst="ellipse">
            <a:avLst/>
          </a:prstGeom>
          <a:solidFill>
            <a:srgbClr val="0EA5A0">
              <a:alpha val="18000"/>
            </a:srgbClr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863840" y="548640"/>
            <a:ext cx="1645920" cy="1645920"/>
          </a:xfrm>
          <a:prstGeom prst="ellipse">
            <a:avLst/>
          </a:prstGeom>
          <a:solidFill>
            <a:srgbClr val="0EA5A0">
              <a:alpha val="10000"/>
            </a:srgbClr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732520" y="10972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NO SUPERVISADO  |  TEXTO Y CLUSTERING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Agrupacion de Noticias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Clustering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26974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automatico de grupos tematicos en articulos periodisticos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etiquetas previas, usando vectorizacion TF-IDF, PCA y K-Means.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639312"/>
            <a:ext cx="3291840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11480" y="3794760"/>
            <a:ext cx="18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 Calderon Diaz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4297680"/>
            <a:ext cx="15022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s-CO" sz="12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32520" y="10972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Problema Resuelve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2011680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397764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64008" cy="126187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21208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1115568"/>
            <a:ext cx="3675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dia se publican miles de noticias en distintos medios. Clasificarlas manualmente por tema es costoso e imposible a gran escala. Necesitamos que un algoritmo detecte los temas por si solo.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397764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64008" cy="126187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21208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no supervisado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2468880"/>
            <a:ext cx="3675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existen etiquetas asignadas de antemano. El modelo debe descubrir la estructura oculta del lenguaje, identificando que articulos hablan de los mismos temas sin que nadie se lo indique.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777240"/>
            <a:ext cx="4251960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526280" y="777240"/>
            <a:ext cx="64008" cy="2615184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681728" y="822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esperados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0016" y="1243584"/>
            <a:ext cx="118872" cy="118872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892040" y="1188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08192" y="1188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Gobierno, elecciones, legislacion, diplomacia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0016" y="1673352"/>
            <a:ext cx="118872" cy="118872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92040" y="1618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Deportes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08192" y="16184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Resultados, equipos, atletas, competencias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0016" y="2103120"/>
            <a:ext cx="118872" cy="118872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92040" y="20482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08192" y="2048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Mercados, empresas, finanzas, presupuesto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0016" y="2532888"/>
            <a:ext cx="118872" cy="118872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892040" y="24780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08192" y="24780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hardware, internet, innovacion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0016" y="2962656"/>
            <a:ext cx="118872" cy="118872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892040" y="29077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Entretenimiento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08192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Cine, musica, television, cultura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502152"/>
            <a:ext cx="276148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365760" y="3502152"/>
            <a:ext cx="2761488" cy="8229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530352" y="365760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200" b="1" noProof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[2225 Artículos]</a:t>
            </a:r>
            <a:endParaRPr lang="es-CO" sz="2200" noProof="0" dirty="0"/>
          </a:p>
        </p:txBody>
      </p:sp>
      <p:sp>
        <p:nvSpPr>
          <p:cNvPr id="34" name="Text 32"/>
          <p:cNvSpPr/>
          <p:nvPr/>
        </p:nvSpPr>
        <p:spPr>
          <a:xfrm>
            <a:off x="457200" y="422452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O" sz="1000" dirty="0">
                <a:hlinkClick r:id="rId3"/>
              </a:rPr>
              <a:t>BBC Full Text </a:t>
            </a:r>
            <a:r>
              <a:rPr lang="es-CO" sz="1000" dirty="0" err="1">
                <a:hlinkClick r:id="rId3"/>
              </a:rPr>
              <a:t>Document</a:t>
            </a:r>
            <a:r>
              <a:rPr lang="es-CO" sz="1000" dirty="0">
                <a:hlinkClick r:id="rId3"/>
              </a:rPr>
              <a:t> </a:t>
            </a:r>
            <a:r>
              <a:rPr lang="es-CO" sz="1000" dirty="0" err="1">
                <a:hlinkClick r:id="rId3"/>
              </a:rPr>
              <a:t>Classification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10128" y="3502152"/>
            <a:ext cx="276148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3310128" y="3502152"/>
            <a:ext cx="2761488" cy="8229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3465576" y="390906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 Clusters]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6254496" y="3502152"/>
            <a:ext cx="276148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6254496" y="3502152"/>
            <a:ext cx="2761488" cy="8229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6419088" y="365760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[Silhouette]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345936" y="422452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O" sz="1200" dirty="0"/>
              <a:t>K-Means : 0.0846 </a:t>
            </a:r>
          </a:p>
          <a:p>
            <a:pPr algn="ctr"/>
            <a:r>
              <a:rPr lang="es-CO" sz="1200" dirty="0"/>
              <a:t>GMM : 0.0809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32520" y="10972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y Preprocesamiento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2011680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2286000" cy="34747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BBC News  |  bbc_data.csv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88920" y="749808"/>
            <a:ext cx="1920240" cy="347472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788920" y="749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/ pandas  |  Python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5120640" cy="667512"/>
          </a:xfrm>
          <a:prstGeom prst="rect">
            <a:avLst/>
          </a:prstGeom>
          <a:solidFill>
            <a:srgbClr val="FFFFFF"/>
          </a:solidFill>
          <a:ln w="9525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65760" y="1234440"/>
            <a:ext cx="502920" cy="66751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1234440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289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texto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156362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 minusculas, eliminacion de signos de puntuacion, numeros y caracteres especiales con expresiones regulares.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1984248"/>
            <a:ext cx="5120640" cy="667512"/>
          </a:xfrm>
          <a:prstGeom prst="rect">
            <a:avLst/>
          </a:prstGeom>
          <a:solidFill>
            <a:srgbClr val="FFFFFF"/>
          </a:solidFill>
          <a:ln w="9525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65760" y="1984248"/>
            <a:ext cx="502920" cy="66751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65760" y="1984248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039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Eliminacion stopwords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3134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Remocion de palabras muy frecuentes que no aportan valor semantico (the, is, of, and...) usando la lista de NLTK/sklearn.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734056"/>
            <a:ext cx="5120640" cy="667512"/>
          </a:xfrm>
          <a:prstGeom prst="rect">
            <a:avLst/>
          </a:prstGeom>
          <a:solidFill>
            <a:srgbClr val="FFFFFF"/>
          </a:solidFill>
          <a:ln w="9525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365760" y="2734056"/>
            <a:ext cx="502920" cy="66751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65760" y="2734056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Vectorizacion TF-IDF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0120" y="306324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del texto a una matriz numerica donde cada termino recibe un peso segun su frecuencia en el articulo y su rareza en el corpus.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483864"/>
            <a:ext cx="5120640" cy="667512"/>
          </a:xfrm>
          <a:prstGeom prst="rect">
            <a:avLst/>
          </a:prstGeom>
          <a:solidFill>
            <a:srgbClr val="FFFFFF"/>
          </a:solidFill>
          <a:ln w="9525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65760" y="3483864"/>
            <a:ext cx="502920" cy="66751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65760" y="3483864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538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Reduccion PCA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81304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Compresion de la matriz de 5000 columnas a 50 componentes principales para eliminar ruido y reducir el costo computacional.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87568" y="1234440"/>
            <a:ext cx="3090672" cy="33192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5687568" y="1234440"/>
            <a:ext cx="64008" cy="331927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5852160" y="12984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TF-IDF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52160" y="1664208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significa Term Frequency - Inverse Document Frequency.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que tan importante es una palabra para un articulo en relacion a todo el corpus.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palabra aparece mucho en un articulo pero poco en los demas, recibe un peso alto. Palabras que aparecen en todos los articulos (como 'the' o 'said') reciben peso bajo o cero.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cada articulo queda representado como un vector numerico que captura su especificidad tematica.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52160" y="4187952"/>
            <a:ext cx="2743200" cy="256032"/>
          </a:xfrm>
          <a:prstGeom prst="rect">
            <a:avLst/>
          </a:prstGeom>
          <a:solidFill>
            <a:srgbClr val="F4F8FB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5852160" y="4187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Vocabulario: ~5,000 terminos  |  Bigramas incluidos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32520" y="10972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Visual de los Clusters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2011680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2D de clusters (PCA)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821769" y="181266"/>
            <a:ext cx="192615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mas frecuentes por cluster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3977640" cy="2514600"/>
          </a:xfrm>
          <a:prstGeom prst="rect">
            <a:avLst/>
          </a:prstGeom>
          <a:solidFill>
            <a:srgbClr val="EBF2F8"/>
          </a:solidFill>
          <a:ln w="15240">
            <a:solidFill>
              <a:srgbClr val="0EA5A0"/>
            </a:solidFill>
            <a:prstDash val="dash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3794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[Insertar aqui la grafica de dispersion 2D generada con matplotlib]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502920" cy="3200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65760" y="10241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00600" y="10241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9551" y="3901490"/>
            <a:ext cx="3977640" cy="1150570"/>
          </a:xfrm>
          <a:prstGeom prst="rect">
            <a:avLst/>
          </a:prstGeom>
          <a:solidFill>
            <a:srgbClr val="1A2E40"/>
          </a:solidFill>
          <a:ln w="6350">
            <a:solidFill>
              <a:srgbClr val="25354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57200" y="3865567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 — Dispersion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205720"/>
            <a:ext cx="3752344" cy="75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900" dirty="0">
                <a:solidFill>
                  <a:schemeClr val="bg1"/>
                </a:solidFill>
              </a:rPr>
              <a:t>La proyección 2D muestra que los cinco </a:t>
            </a:r>
            <a:r>
              <a:rPr lang="es-ES" sz="900" dirty="0" err="1">
                <a:solidFill>
                  <a:schemeClr val="bg1"/>
                </a:solidFill>
              </a:rPr>
              <a:t>clusters</a:t>
            </a:r>
            <a:r>
              <a:rPr lang="es-ES" sz="900" dirty="0">
                <a:solidFill>
                  <a:schemeClr val="bg1"/>
                </a:solidFill>
              </a:rPr>
              <a:t> del BBC corpus ocupan regiones diferenciadas del plano, con cierta superposición en la zona central izquierda. La proyección a 2D pierde parte de la varianza del espacio original de 50 dimensiones.</a:t>
            </a:r>
          </a:p>
          <a:p>
            <a:r>
              <a:rPr lang="es-ES" sz="900" dirty="0">
                <a:solidFill>
                  <a:schemeClr val="bg1"/>
                </a:solidFill>
              </a:rPr>
              <a:t>Los centroides (marcas de etiquetas) se ubican en las zonas mas densas de cada grupo, lugares donde K-Means encontró núcleos coherentes para cada tema periodístico.</a:t>
            </a:r>
          </a:p>
        </p:txBody>
      </p:sp>
      <p:sp>
        <p:nvSpPr>
          <p:cNvPr id="18" name="Shape 16"/>
          <p:cNvSpPr/>
          <p:nvPr/>
        </p:nvSpPr>
        <p:spPr>
          <a:xfrm>
            <a:off x="4800600" y="4119372"/>
            <a:ext cx="4251960" cy="932688"/>
          </a:xfrm>
          <a:prstGeom prst="rect">
            <a:avLst/>
          </a:prstGeom>
          <a:solidFill>
            <a:srgbClr val="1A2E40"/>
          </a:solidFill>
          <a:ln w="6350">
            <a:solidFill>
              <a:srgbClr val="25354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46904" y="41193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 — Palabras clave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8836" y="4323722"/>
            <a:ext cx="41137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dirty="0">
                <a:solidFill>
                  <a:schemeClr val="bg1"/>
                </a:solidFill>
              </a:rPr>
              <a:t>Cada </a:t>
            </a:r>
            <a:r>
              <a:rPr lang="es-ES" sz="800" dirty="0" err="1">
                <a:solidFill>
                  <a:schemeClr val="bg1"/>
                </a:solidFill>
              </a:rPr>
              <a:t>cluster</a:t>
            </a:r>
            <a:r>
              <a:rPr lang="es-ES" sz="800" dirty="0">
                <a:solidFill>
                  <a:schemeClr val="bg1"/>
                </a:solidFill>
              </a:rPr>
              <a:t> concentra vocabulario temáticamente coherente con las categorías BBC:</a:t>
            </a:r>
          </a:p>
          <a:p>
            <a:r>
              <a:rPr lang="es-ES" sz="800" dirty="0">
                <a:solidFill>
                  <a:schemeClr val="bg1"/>
                </a:solidFill>
              </a:rPr>
              <a:t>un </a:t>
            </a:r>
            <a:r>
              <a:rPr lang="es-ES" sz="800" dirty="0" err="1">
                <a:solidFill>
                  <a:schemeClr val="bg1"/>
                </a:solidFill>
              </a:rPr>
              <a:t>cluster</a:t>
            </a:r>
            <a:r>
              <a:rPr lang="es-ES" sz="800" dirty="0">
                <a:solidFill>
                  <a:schemeClr val="bg1"/>
                </a:solidFill>
              </a:rPr>
              <a:t> muestra términos típicos del deporte (</a:t>
            </a:r>
            <a:r>
              <a:rPr lang="es-ES" sz="800" dirty="0" err="1">
                <a:solidFill>
                  <a:schemeClr val="bg1"/>
                </a:solidFill>
              </a:rPr>
              <a:t>game</a:t>
            </a:r>
            <a:r>
              <a:rPr lang="es-ES" sz="800" dirty="0">
                <a:solidFill>
                  <a:schemeClr val="bg1"/>
                </a:solidFill>
              </a:rPr>
              <a:t>, </a:t>
            </a:r>
            <a:r>
              <a:rPr lang="es-ES" sz="800" dirty="0" err="1">
                <a:solidFill>
                  <a:schemeClr val="bg1"/>
                </a:solidFill>
              </a:rPr>
              <a:t>win</a:t>
            </a:r>
            <a:r>
              <a:rPr lang="es-ES" sz="800" dirty="0">
                <a:solidFill>
                  <a:schemeClr val="bg1"/>
                </a:solidFill>
              </a:rPr>
              <a:t>, </a:t>
            </a:r>
            <a:r>
              <a:rPr lang="es-ES" sz="800" dirty="0" err="1">
                <a:solidFill>
                  <a:schemeClr val="bg1"/>
                </a:solidFill>
              </a:rPr>
              <a:t>play</a:t>
            </a:r>
            <a:r>
              <a:rPr lang="es-ES" sz="800" dirty="0">
                <a:solidFill>
                  <a:schemeClr val="bg1"/>
                </a:solidFill>
              </a:rPr>
              <a:t>), otro agrupa palabras de economía y finanzas (</a:t>
            </a:r>
            <a:r>
              <a:rPr lang="es-ES" sz="800" dirty="0" err="1">
                <a:solidFill>
                  <a:schemeClr val="bg1"/>
                </a:solidFill>
              </a:rPr>
              <a:t>market</a:t>
            </a:r>
            <a:r>
              <a:rPr lang="es-ES" sz="800" dirty="0">
                <a:solidFill>
                  <a:schemeClr val="bg1"/>
                </a:solidFill>
              </a:rPr>
              <a:t>, </a:t>
            </a:r>
            <a:r>
              <a:rPr lang="es-ES" sz="800" dirty="0" err="1">
                <a:solidFill>
                  <a:schemeClr val="bg1"/>
                </a:solidFill>
              </a:rPr>
              <a:t>growth</a:t>
            </a:r>
            <a:r>
              <a:rPr lang="es-ES" sz="800" dirty="0">
                <a:solidFill>
                  <a:schemeClr val="bg1"/>
                </a:solidFill>
              </a:rPr>
              <a:t>, </a:t>
            </a:r>
            <a:r>
              <a:rPr lang="es-ES" sz="800" dirty="0" err="1">
                <a:solidFill>
                  <a:schemeClr val="bg1"/>
                </a:solidFill>
              </a:rPr>
              <a:t>economy</a:t>
            </a:r>
            <a:r>
              <a:rPr lang="es-ES" sz="800" dirty="0">
                <a:solidFill>
                  <a:schemeClr val="bg1"/>
                </a:solidFill>
              </a:rPr>
              <a:t>), otro refleja tecnología (software, </a:t>
            </a:r>
            <a:r>
              <a:rPr lang="es-ES" sz="800" dirty="0" err="1">
                <a:solidFill>
                  <a:schemeClr val="bg1"/>
                </a:solidFill>
              </a:rPr>
              <a:t>mobile</a:t>
            </a:r>
            <a:r>
              <a:rPr lang="es-ES" sz="800" dirty="0">
                <a:solidFill>
                  <a:schemeClr val="bg1"/>
                </a:solidFill>
              </a:rPr>
              <a:t>, </a:t>
            </a:r>
            <a:r>
              <a:rPr lang="es-ES" sz="800" dirty="0" err="1">
                <a:solidFill>
                  <a:schemeClr val="bg1"/>
                </a:solidFill>
              </a:rPr>
              <a:t>technology</a:t>
            </a:r>
            <a:r>
              <a:rPr lang="es-ES" sz="800" dirty="0">
                <a:solidFill>
                  <a:schemeClr val="bg1"/>
                </a:solidFill>
              </a:rPr>
              <a:t>), y así para política y entretenimiento. La lectura de estas palabras permite etiquetar </a:t>
            </a:r>
            <a:r>
              <a:rPr lang="es-ES" sz="800" dirty="0" err="1">
                <a:solidFill>
                  <a:schemeClr val="bg1"/>
                </a:solidFill>
              </a:rPr>
              <a:t>semanticamente</a:t>
            </a:r>
            <a:r>
              <a:rPr lang="es-ES" sz="800" dirty="0">
                <a:solidFill>
                  <a:schemeClr val="bg1"/>
                </a:solidFill>
              </a:rPr>
              <a:t> cada </a:t>
            </a:r>
            <a:r>
              <a:rPr lang="es-ES" sz="800" dirty="0" err="1">
                <a:solidFill>
                  <a:schemeClr val="bg1"/>
                </a:solidFill>
              </a:rPr>
              <a:t>cluster</a:t>
            </a:r>
            <a:r>
              <a:rPr lang="es-ES" sz="800" dirty="0">
                <a:solidFill>
                  <a:schemeClr val="bg1"/>
                </a:solidFill>
              </a:rPr>
              <a:t> sin haber usado ninguna etiqueta al modelo.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25D6700-DD66-C5C1-C60E-B3A7F7C15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51" y="987552"/>
            <a:ext cx="4013241" cy="265072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5C777AC-CD76-2009-8FEB-0500BCB6DE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975" r="59718"/>
          <a:stretch>
            <a:fillRect/>
          </a:stretch>
        </p:blipFill>
        <p:spPr>
          <a:xfrm>
            <a:off x="5537458" y="395524"/>
            <a:ext cx="2916480" cy="184955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2D8977D4-A30F-8B18-AB59-614AF5CF31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111" t="11763"/>
          <a:stretch>
            <a:fillRect/>
          </a:stretch>
        </p:blipFill>
        <p:spPr>
          <a:xfrm>
            <a:off x="5012743" y="2331833"/>
            <a:ext cx="3827673" cy="16182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32520" y="10972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Modelo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2011680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96696" y="813816"/>
            <a:ext cx="276148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96696" y="786384"/>
            <a:ext cx="2761488" cy="7315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417320" y="1000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s-CO" sz="1600" dirty="0"/>
              <a:t>K-Means : 0.0846 </a:t>
            </a:r>
          </a:p>
          <a:p>
            <a:pPr algn="ctr"/>
            <a:r>
              <a:rPr lang="es-CO" sz="1600" dirty="0"/>
              <a:t>GMM : 0.0809</a:t>
            </a:r>
            <a:r>
              <a:rPr lang="en-US" sz="16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8136" y="1500423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37791" y="804672"/>
            <a:ext cx="276148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5837791" y="804672"/>
            <a:ext cx="2761488" cy="7315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929231" y="93268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[5]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29231" y="135331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optimos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29231" y="16093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Justificado por tecnica del codo.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193852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 del codo (seleccion de K)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21945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21945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1480" y="4507992"/>
            <a:ext cx="8412480" cy="574996"/>
          </a:xfrm>
          <a:prstGeom prst="rect">
            <a:avLst/>
          </a:prstGeom>
          <a:solidFill>
            <a:srgbClr val="1A2E40"/>
          </a:solidFill>
          <a:ln w="6350">
            <a:solidFill>
              <a:srgbClr val="25354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365760" y="4507992"/>
            <a:ext cx="45720" cy="57499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525780" y="4553713"/>
            <a:ext cx="8183880" cy="44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ES" sz="1000" dirty="0">
                <a:solidFill>
                  <a:schemeClr val="bg1"/>
                </a:solidFill>
              </a:rPr>
              <a:t>La inercia desciende con rapidez entre K=2 y K=5, y a partir de ese punto la pendiente se suaviza de forma notable. Esto sugiere que </a:t>
            </a:r>
            <a:r>
              <a:rPr lang="es-ES" sz="1000" b="1" dirty="0">
                <a:solidFill>
                  <a:schemeClr val="bg1"/>
                </a:solidFill>
              </a:rPr>
              <a:t>K=5</a:t>
            </a:r>
            <a:r>
              <a:rPr lang="es-ES" sz="1000" dirty="0">
                <a:solidFill>
                  <a:schemeClr val="bg1"/>
                </a:solidFill>
              </a:rPr>
              <a:t> es un punto de equilibrio razonable: agregar mas </a:t>
            </a:r>
            <a:r>
              <a:rPr lang="es-ES" sz="1000" dirty="0" err="1">
                <a:solidFill>
                  <a:schemeClr val="bg1"/>
                </a:solidFill>
              </a:rPr>
              <a:t>clusters</a:t>
            </a:r>
            <a:r>
              <a:rPr lang="es-ES" sz="1000" dirty="0">
                <a:solidFill>
                  <a:schemeClr val="bg1"/>
                </a:solidFill>
              </a:rPr>
              <a:t> produce una mejora marginal que no justifica la complejidad adicional. K=5 coincide exactamente con el numero de </a:t>
            </a:r>
            <a:r>
              <a:rPr lang="es-ES" sz="1000" dirty="0" err="1">
                <a:solidFill>
                  <a:schemeClr val="bg1"/>
                </a:solidFill>
              </a:rPr>
              <a:t>categorias</a:t>
            </a:r>
            <a:r>
              <a:rPr lang="es-ES" sz="1000" dirty="0">
                <a:solidFill>
                  <a:schemeClr val="bg1"/>
                </a:solidFill>
              </a:rPr>
              <a:t> originales del </a:t>
            </a:r>
            <a:r>
              <a:rPr lang="es-ES" sz="1000" dirty="0" err="1">
                <a:solidFill>
                  <a:schemeClr val="bg1"/>
                </a:solidFill>
              </a:rPr>
              <a:t>dataset</a:t>
            </a:r>
            <a:r>
              <a:rPr lang="es-ES" sz="1000" dirty="0">
                <a:solidFill>
                  <a:schemeClr val="bg1"/>
                </a:solidFill>
              </a:rPr>
              <a:t> BBC, lo que confirma que la </a:t>
            </a:r>
            <a:r>
              <a:rPr lang="es-ES" sz="1000" dirty="0" err="1">
                <a:solidFill>
                  <a:schemeClr val="bg1"/>
                </a:solidFill>
              </a:rPr>
              <a:t>eleccion</a:t>
            </a:r>
            <a:r>
              <a:rPr lang="es-ES" sz="1000" dirty="0">
                <a:solidFill>
                  <a:schemeClr val="bg1"/>
                </a:solidFill>
              </a:rPr>
              <a:t> es coherente con la estructura real de los datos.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2D1B2180-5E4D-C1DA-37E3-A4DA7C567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515" y="2180892"/>
            <a:ext cx="4575919" cy="22401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0B21E8-9FBC-EA8A-228A-E6E98E31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D3C5DA-7E46-5E64-95F5-82AE2AF35B61}"/>
              </a:ext>
            </a:extLst>
          </p:cNvPr>
          <p:cNvSpPr/>
          <p:nvPr/>
        </p:nvSpPr>
        <p:spPr>
          <a:xfrm>
            <a:off x="8732520" y="10972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D7380A-CE2A-E3B1-626B-A9971C3477A2}"/>
              </a:ext>
            </a:extLst>
          </p:cNvPr>
          <p:cNvSpPr/>
          <p:nvPr/>
        </p:nvSpPr>
        <p:spPr>
          <a:xfrm>
            <a:off x="365760" y="164592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Modelo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2C367BA-1A52-1549-ED0D-3B5CF8C9AF66}"/>
              </a:ext>
            </a:extLst>
          </p:cNvPr>
          <p:cNvSpPr/>
          <p:nvPr/>
        </p:nvSpPr>
        <p:spPr>
          <a:xfrm>
            <a:off x="365760" y="640080"/>
            <a:ext cx="2011680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5210585-4434-0C36-72E1-C70B44E03B74}"/>
              </a:ext>
            </a:extLst>
          </p:cNvPr>
          <p:cNvSpPr/>
          <p:nvPr/>
        </p:nvSpPr>
        <p:spPr>
          <a:xfrm>
            <a:off x="3767001" y="780167"/>
            <a:ext cx="1805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 K-Means vs. GMM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5B7264A-CA04-C62D-2BB9-D8227AC2562C}"/>
              </a:ext>
            </a:extLst>
          </p:cNvPr>
          <p:cNvSpPr/>
          <p:nvPr/>
        </p:nvSpPr>
        <p:spPr>
          <a:xfrm>
            <a:off x="365760" y="21945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E4C13AB-C5D4-47CB-0254-4B9C7066E3AF}"/>
              </a:ext>
            </a:extLst>
          </p:cNvPr>
          <p:cNvSpPr/>
          <p:nvPr/>
        </p:nvSpPr>
        <p:spPr>
          <a:xfrm>
            <a:off x="4800600" y="21945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</a:t>
            </a:r>
            <a:endParaRPr lang="en-US" sz="8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12AFEC8-EDAF-9584-BF3D-F3E37DB61E71}"/>
              </a:ext>
            </a:extLst>
          </p:cNvPr>
          <p:cNvSpPr/>
          <p:nvPr/>
        </p:nvSpPr>
        <p:spPr>
          <a:xfrm>
            <a:off x="365760" y="4251960"/>
            <a:ext cx="8412480" cy="837752"/>
          </a:xfrm>
          <a:prstGeom prst="rect">
            <a:avLst/>
          </a:prstGeom>
          <a:solidFill>
            <a:srgbClr val="1A2E40"/>
          </a:solidFill>
          <a:ln w="6350">
            <a:solidFill>
              <a:srgbClr val="25354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6E53615-FCD0-ABF1-A12C-A2B02A2F58F8}"/>
              </a:ext>
            </a:extLst>
          </p:cNvPr>
          <p:cNvSpPr/>
          <p:nvPr/>
        </p:nvSpPr>
        <p:spPr>
          <a:xfrm>
            <a:off x="365760" y="4251960"/>
            <a:ext cx="64008" cy="83775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E2B3C35-54A8-7A1D-5300-63921023B6D7}"/>
              </a:ext>
            </a:extLst>
          </p:cNvPr>
          <p:cNvSpPr/>
          <p:nvPr/>
        </p:nvSpPr>
        <p:spPr>
          <a:xfrm>
            <a:off x="501574" y="4430083"/>
            <a:ext cx="82766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900" dirty="0">
                <a:solidFill>
                  <a:schemeClr val="bg1"/>
                </a:solidFill>
              </a:rPr>
              <a:t>En esta ejecución, ambos modelos muestran una separación </a:t>
            </a:r>
            <a:r>
              <a:rPr lang="es-ES" sz="900" b="1" dirty="0">
                <a:solidFill>
                  <a:schemeClr val="bg1"/>
                </a:solidFill>
              </a:rPr>
              <a:t>débil </a:t>
            </a:r>
            <a:r>
              <a:rPr lang="es-ES" sz="900" dirty="0">
                <a:solidFill>
                  <a:schemeClr val="bg1"/>
                </a:solidFill>
              </a:rPr>
              <a:t>entre temas: los resultados de </a:t>
            </a:r>
            <a:r>
              <a:rPr lang="es-ES" sz="900" dirty="0" err="1">
                <a:solidFill>
                  <a:schemeClr val="bg1"/>
                </a:solidFill>
              </a:rPr>
              <a:t>Silhouette</a:t>
            </a:r>
            <a:r>
              <a:rPr lang="es-ES" sz="900" dirty="0">
                <a:solidFill>
                  <a:schemeClr val="bg1"/>
                </a:solidFill>
              </a:rPr>
              <a:t> son bajos (K-Means = 0.0846 y GMM = 0.0809), lo que indica solapamiento importante entre </a:t>
            </a:r>
            <a:r>
              <a:rPr lang="es-ES" sz="900" dirty="0" err="1">
                <a:solidFill>
                  <a:schemeClr val="bg1"/>
                </a:solidFill>
              </a:rPr>
              <a:t>clusters</a:t>
            </a:r>
            <a:r>
              <a:rPr lang="es-ES" sz="900" dirty="0">
                <a:solidFill>
                  <a:schemeClr val="bg1"/>
                </a:solidFill>
              </a:rPr>
              <a:t> en el espacio reducido.</a:t>
            </a:r>
          </a:p>
          <a:p>
            <a:r>
              <a:rPr lang="es-ES" sz="900" dirty="0">
                <a:solidFill>
                  <a:schemeClr val="bg1"/>
                </a:solidFill>
              </a:rPr>
              <a:t>Aunque visualmente las particiones son parecidas, K-Means queda levemente por encima en cohesión/separación global, mientras que GMM presenta una asignación mas desbalanceada (un </a:t>
            </a:r>
            <a:r>
              <a:rPr lang="es-ES" sz="900" dirty="0" err="1">
                <a:solidFill>
                  <a:schemeClr val="bg1"/>
                </a:solidFill>
              </a:rPr>
              <a:t>cluster</a:t>
            </a:r>
            <a:r>
              <a:rPr lang="es-ES" sz="900" dirty="0">
                <a:solidFill>
                  <a:schemeClr val="bg1"/>
                </a:solidFill>
              </a:rPr>
              <a:t> concentra gran parte de los artículos).</a:t>
            </a:r>
          </a:p>
          <a:p>
            <a:r>
              <a:rPr lang="es-ES" sz="900" dirty="0">
                <a:solidFill>
                  <a:schemeClr val="bg1"/>
                </a:solidFill>
              </a:rPr>
              <a:t>Esto sugiere que, para este pipeline y estos </a:t>
            </a:r>
            <a:r>
              <a:rPr lang="es-ES" sz="900" dirty="0" err="1">
                <a:solidFill>
                  <a:schemeClr val="bg1"/>
                </a:solidFill>
              </a:rPr>
              <a:t>hiperparametros</a:t>
            </a:r>
            <a:r>
              <a:rPr lang="es-ES" sz="900" dirty="0">
                <a:solidFill>
                  <a:schemeClr val="bg1"/>
                </a:solidFill>
              </a:rPr>
              <a:t>, K-Means ofrece una segmentación mas estable, y GMM no aporta una mejora clara en calidad de agrupamiento.</a:t>
            </a: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080BC353-733D-E160-D5A1-4E06FE638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89" y="1110811"/>
            <a:ext cx="8837023" cy="314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2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0EA5A0">
              <a:alpha val="12000"/>
            </a:srgbClr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EA5A0">
              <a:alpha val="10000"/>
            </a:srgbClr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732520" y="10972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1828800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384048" cy="384048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832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funciono bien?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804672"/>
            <a:ext cx="384048" cy="384048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310128" y="804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85616" y="832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aprendio el grupo?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54496" y="804672"/>
            <a:ext cx="384048" cy="384048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254496" y="804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9984" y="832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mejorarian?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1316736"/>
            <a:ext cx="8412480" cy="36576"/>
          </a:xfrm>
          <a:prstGeom prst="rect">
            <a:avLst/>
          </a:prstGeom>
          <a:solidFill>
            <a:srgbClr val="1E3548"/>
          </a:solidFill>
          <a:ln w="12700">
            <a:solidFill>
              <a:srgbClr val="1E354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365760" y="1444752"/>
            <a:ext cx="2761488" cy="3401568"/>
          </a:xfrm>
          <a:prstGeom prst="rect">
            <a:avLst/>
          </a:prstGeom>
          <a:solidFill>
            <a:srgbClr val="1A2E40"/>
          </a:solidFill>
          <a:ln w="9525">
            <a:solidFill>
              <a:srgbClr val="253545"/>
            </a:solidFill>
            <a:prstDash val="solid"/>
          </a:ln>
          <a:effectLst>
            <a:outerShdw blurRad="1524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65760" y="1444752"/>
            <a:ext cx="2761488" cy="7315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1188720" y="1627632"/>
            <a:ext cx="1115568" cy="1115568"/>
          </a:xfrm>
          <a:prstGeom prst="ellipse">
            <a:avLst/>
          </a:prstGeom>
          <a:solidFill>
            <a:srgbClr val="1E3548"/>
          </a:solidFill>
          <a:ln w="254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188720" y="1627632"/>
            <a:ext cx="11155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87121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[Integrante 1]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14553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 en el proyecto]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22960" y="3419856"/>
            <a:ext cx="1847088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02920" y="3511296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[Escribir aqui la conclusion personal del integrante sobre el proyecto, lo que aprendio y que cambiaria.]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10128" y="1444752"/>
            <a:ext cx="2761488" cy="3401568"/>
          </a:xfrm>
          <a:prstGeom prst="rect">
            <a:avLst/>
          </a:prstGeom>
          <a:solidFill>
            <a:srgbClr val="1A2E40"/>
          </a:solidFill>
          <a:ln w="9525">
            <a:solidFill>
              <a:srgbClr val="253545"/>
            </a:solidFill>
            <a:prstDash val="solid"/>
          </a:ln>
          <a:effectLst>
            <a:outerShdw blurRad="1524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3310128" y="1444752"/>
            <a:ext cx="2761488" cy="7315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133088" y="1627632"/>
            <a:ext cx="1115568" cy="1115568"/>
          </a:xfrm>
          <a:prstGeom prst="ellipse">
            <a:avLst/>
          </a:prstGeom>
          <a:solidFill>
            <a:srgbClr val="1E3548"/>
          </a:solidFill>
          <a:ln w="254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133088" y="1627632"/>
            <a:ext cx="11155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01568" y="287121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[Integrante 2]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01568" y="314553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 en el proyecto]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767328" y="3419856"/>
            <a:ext cx="1847088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447288" y="3511296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[Escribir aqui la conclusion personal del integrante sobre el proyecto, lo que aprendio y que cambiaria.]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54496" y="1444752"/>
            <a:ext cx="2761488" cy="3401568"/>
          </a:xfrm>
          <a:prstGeom prst="rect">
            <a:avLst/>
          </a:prstGeom>
          <a:solidFill>
            <a:srgbClr val="1A2E40"/>
          </a:solidFill>
          <a:ln w="9525">
            <a:solidFill>
              <a:srgbClr val="253545"/>
            </a:solidFill>
            <a:prstDash val="solid"/>
          </a:ln>
          <a:effectLst>
            <a:outerShdw blurRad="1524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6254496" y="1444752"/>
            <a:ext cx="2761488" cy="7315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7077456" y="1627632"/>
            <a:ext cx="1115568" cy="1115568"/>
          </a:xfrm>
          <a:prstGeom prst="ellipse">
            <a:avLst/>
          </a:prstGeom>
          <a:solidFill>
            <a:srgbClr val="1E3548"/>
          </a:solidFill>
          <a:ln w="254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7077456" y="1627632"/>
            <a:ext cx="11155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45936" y="287121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[Integrante 3]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45936" y="314553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 en el proyecto]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11696" y="3419856"/>
            <a:ext cx="1847088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6391656" y="3511296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[Escribir aqui la conclusion personal del integrante sobre el proyecto, lo que aprendio y que cambiaria.]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933</Words>
  <Application>Microsoft Office PowerPoint</Application>
  <PresentationFormat>Presentación en pantalla (16:9)</PresentationFormat>
  <Paragraphs>116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Agrupacion de Noticias con Clustering</dc:title>
  <dc:subject>PptxGenJS Presentation</dc:subject>
  <dc:creator>[Grupo universitario]</dc:creator>
  <cp:lastModifiedBy>JUAN DAVID CALDERON DIAZ</cp:lastModifiedBy>
  <cp:revision>8</cp:revision>
  <dcterms:created xsi:type="dcterms:W3CDTF">2026-05-28T02:47:05Z</dcterms:created>
  <dcterms:modified xsi:type="dcterms:W3CDTF">2026-05-28T04:50:32Z</dcterms:modified>
</cp:coreProperties>
</file>